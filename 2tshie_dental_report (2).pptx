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ax2Dyd34u7rQnQmqcQxo7/ZRg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37A523-7AF9-4283-B71F-3656CC43C0B1}">
  <a:tblStyle styleId="{CD37A523-7AF9-4283-B71F-3656CC43C0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Jabi</c:v>
                </c:pt>
              </c:strCache>
            </c:strRef>
          </c:tx>
          <c:spPr>
            <a:solidFill>
              <a:srgbClr val="1A6E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676</c:v>
                </c:pt>
                <c:pt idx="2">
                  <c:v>1442</c:v>
                </c:pt>
                <c:pt idx="3">
                  <c:v>1323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Apo</c:v>
                </c:pt>
              </c:strCache>
            </c:strRef>
          </c:tx>
          <c:spPr>
            <a:solidFill>
              <a:srgbClr val="0DB0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647</c:v>
                </c:pt>
                <c:pt idx="1">
                  <c:v>1090</c:v>
                </c:pt>
                <c:pt idx="2">
                  <c:v>1383</c:v>
                </c:pt>
                <c:pt idx="3">
                  <c:v>1571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647</c:v>
                </c:pt>
                <c:pt idx="1">
                  <c:v>1766</c:v>
                </c:pt>
                <c:pt idx="2">
                  <c:v>2825</c:v>
                </c:pt>
                <c:pt idx="3">
                  <c:v>2894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Jabi 2024</c:v>
                </c:pt>
              </c:strCache>
            </c:strRef>
          </c:tx>
          <c:spPr>
            <a:solidFill>
              <a:srgbClr val="1A6EF5"/>
            </a:solidFill>
            <a:ln w="31750" cap="flat">
              <a:solidFill>
                <a:srgbClr val="1A6E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6EF5"/>
              </a:solidFill>
              <a:ln w="9525" cap="flat">
                <a:solidFill>
                  <a:srgbClr val="1A6E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148</c:v>
                </c:pt>
                <c:pt idx="1">
                  <c:v>110</c:v>
                </c:pt>
                <c:pt idx="2">
                  <c:v>90</c:v>
                </c:pt>
                <c:pt idx="3">
                  <c:v>115</c:v>
                </c:pt>
                <c:pt idx="4">
                  <c:v>96</c:v>
                </c:pt>
                <c:pt idx="5">
                  <c:v>160</c:v>
                </c:pt>
                <c:pt idx="6">
                  <c:v>151</c:v>
                </c:pt>
                <c:pt idx="7">
                  <c:v>147</c:v>
                </c:pt>
                <c:pt idx="8">
                  <c:v>110</c:v>
                </c:pt>
                <c:pt idx="9">
                  <c:v>87</c:v>
                </c:pt>
                <c:pt idx="10">
                  <c:v>103</c:v>
                </c:pt>
                <c:pt idx="11">
                  <c:v>125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Apo 2024</c:v>
                </c:pt>
              </c:strCache>
            </c:strRef>
          </c:tx>
          <c:spPr>
            <a:solidFill>
              <a:srgbClr val="0DB07D"/>
            </a:solidFill>
            <a:ln w="31750" cap="flat">
              <a:solidFill>
                <a:srgbClr val="0DB07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B07D"/>
              </a:solidFill>
              <a:ln w="9525" cap="flat">
                <a:solidFill>
                  <a:srgbClr val="0DB07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98</c:v>
                </c:pt>
                <c:pt idx="1">
                  <c:v>102</c:v>
                </c:pt>
                <c:pt idx="2">
                  <c:v>145</c:v>
                </c:pt>
                <c:pt idx="3">
                  <c:v>141</c:v>
                </c:pt>
                <c:pt idx="4">
                  <c:v>90</c:v>
                </c:pt>
                <c:pt idx="5">
                  <c:v>120</c:v>
                </c:pt>
                <c:pt idx="6">
                  <c:v>114</c:v>
                </c:pt>
                <c:pt idx="7">
                  <c:v>110</c:v>
                </c:pt>
                <c:pt idx="8">
                  <c:v>125</c:v>
                </c:pt>
                <c:pt idx="9">
                  <c:v>122</c:v>
                </c:pt>
                <c:pt idx="10">
                  <c:v>89</c:v>
                </c:pt>
                <c:pt idx="11">
                  <c:v>127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Jabi 2025</c:v>
                </c:pt>
              </c:strCache>
            </c:strRef>
          </c:tx>
          <c:spPr>
            <a:solidFill>
              <a:srgbClr val="1A6EF5"/>
            </a:solidFill>
            <a:ln w="31750" cap="flat">
              <a:solidFill>
                <a:srgbClr val="1A6E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6EF5"/>
              </a:solidFill>
              <a:ln w="9525" cap="flat">
                <a:solidFill>
                  <a:srgbClr val="1A6E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114</c:v>
                </c:pt>
                <c:pt idx="1">
                  <c:v>62</c:v>
                </c:pt>
                <c:pt idx="2">
                  <c:v>60</c:v>
                </c:pt>
                <c:pt idx="3">
                  <c:v>100</c:v>
                </c:pt>
                <c:pt idx="4">
                  <c:v>96</c:v>
                </c:pt>
                <c:pt idx="5">
                  <c:v>96</c:v>
                </c:pt>
                <c:pt idx="6">
                  <c:v>127</c:v>
                </c:pt>
                <c:pt idx="7">
                  <c:v>233</c:v>
                </c:pt>
                <c:pt idx="8">
                  <c:v>117</c:v>
                </c:pt>
                <c:pt idx="9">
                  <c:v>108</c:v>
                </c:pt>
                <c:pt idx="10">
                  <c:v>70</c:v>
                </c:pt>
                <c:pt idx="11">
                  <c:v>140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Apo 2025</c:v>
                </c:pt>
              </c:strCache>
            </c:strRef>
          </c:tx>
          <c:spPr>
            <a:solidFill>
              <a:srgbClr val="0DB07D"/>
            </a:solidFill>
            <a:ln w="31750" cap="flat">
              <a:solidFill>
                <a:srgbClr val="0DB07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B07D"/>
              </a:solidFill>
              <a:ln w="9525" cap="flat">
                <a:solidFill>
                  <a:srgbClr val="0DB07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135</c:v>
                </c:pt>
                <c:pt idx="1">
                  <c:v>94</c:v>
                </c:pt>
                <c:pt idx="2">
                  <c:v>111</c:v>
                </c:pt>
                <c:pt idx="3">
                  <c:v>137</c:v>
                </c:pt>
                <c:pt idx="4">
                  <c:v>145</c:v>
                </c:pt>
                <c:pt idx="5">
                  <c:v>126</c:v>
                </c:pt>
                <c:pt idx="6">
                  <c:v>137</c:v>
                </c:pt>
                <c:pt idx="7">
                  <c:v>176</c:v>
                </c:pt>
                <c:pt idx="8">
                  <c:v>159</c:v>
                </c:pt>
                <c:pt idx="9">
                  <c:v>134</c:v>
                </c:pt>
                <c:pt idx="10">
                  <c:v>98</c:v>
                </c:pt>
                <c:pt idx="11">
                  <c:v>119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Jabi</c:v>
                </c:pt>
              </c:strCache>
            </c:strRef>
          </c:tx>
          <c:spPr>
            <a:solidFill>
              <a:srgbClr val="1A6E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Walk-in</c:v>
                  </c:pt>
                  <c:pt idx="1">
                    <c:v>Google</c:v>
                  </c:pt>
                  <c:pt idx="2">
                    <c:v>Referral</c:v>
                  </c:pt>
                  <c:pt idx="3">
                    <c:v>Ins. HMO</c:v>
                  </c:pt>
                  <c:pt idx="4">
                    <c:v>Instagram</c:v>
                  </c:pt>
                  <c:pt idx="5">
                    <c:v>Friend/Family</c:v>
                  </c:pt>
                  <c:pt idx="6">
                    <c:v>Returning</c:v>
                  </c:pt>
                  <c:pt idx="7">
                    <c:v>Signage</c:v>
                  </c:pt>
                  <c:pt idx="8">
                    <c:v>Facebook</c:v>
                  </c:pt>
                  <c:pt idx="9">
                    <c:v>Ins. Leadway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568</c:v>
                </c:pt>
                <c:pt idx="1">
                  <c:v>536</c:v>
                </c:pt>
                <c:pt idx="2">
                  <c:v>200</c:v>
                </c:pt>
                <c:pt idx="3">
                  <c:v>103</c:v>
                </c:pt>
                <c:pt idx="4">
                  <c:v>81</c:v>
                </c:pt>
                <c:pt idx="5">
                  <c:v>71</c:v>
                </c:pt>
                <c:pt idx="6">
                  <c:v>80</c:v>
                </c:pt>
                <c:pt idx="7">
                  <c:v>25</c:v>
                </c:pt>
                <c:pt idx="8">
                  <c:v>16</c:v>
                </c:pt>
                <c:pt idx="9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Apo</c:v>
                </c:pt>
              </c:strCache>
            </c:strRef>
          </c:tx>
          <c:spPr>
            <a:solidFill>
              <a:srgbClr val="0DB0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Walk-in</c:v>
                  </c:pt>
                  <c:pt idx="1">
                    <c:v>Google</c:v>
                  </c:pt>
                  <c:pt idx="2">
                    <c:v>Referral</c:v>
                  </c:pt>
                  <c:pt idx="3">
                    <c:v>Ins. HMO</c:v>
                  </c:pt>
                  <c:pt idx="4">
                    <c:v>Instagram</c:v>
                  </c:pt>
                  <c:pt idx="5">
                    <c:v>Friend/Family</c:v>
                  </c:pt>
                  <c:pt idx="6">
                    <c:v>Returning</c:v>
                  </c:pt>
                  <c:pt idx="7">
                    <c:v>Signage</c:v>
                  </c:pt>
                  <c:pt idx="8">
                    <c:v>Facebook</c:v>
                  </c:pt>
                  <c:pt idx="9">
                    <c:v>Ins. Leadway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1093</c:v>
                </c:pt>
                <c:pt idx="1">
                  <c:v>446</c:v>
                </c:pt>
                <c:pt idx="2">
                  <c:v>261</c:v>
                </c:pt>
                <c:pt idx="3">
                  <c:v>253</c:v>
                </c:pt>
                <c:pt idx="4">
                  <c:v>98</c:v>
                </c:pt>
                <c:pt idx="5">
                  <c:v>78</c:v>
                </c:pt>
                <c:pt idx="6">
                  <c:v>33</c:v>
                </c:pt>
                <c:pt idx="7">
                  <c:v>48</c:v>
                </c:pt>
                <c:pt idx="8">
                  <c:v>21</c:v>
                </c:pt>
                <c:pt idx="9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Walk-in</c:v>
                </c:pt>
              </c:strCache>
            </c:strRef>
          </c:tx>
          <c:spPr>
            <a:solidFill>
              <a:srgbClr val="1A6E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267</c:v>
                </c:pt>
                <c:pt idx="1">
                  <c:v>301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Google</c:v>
                </c:pt>
              </c:strCache>
            </c:strRef>
          </c:tx>
          <c:spPr>
            <a:solidFill>
              <a:srgbClr val="0F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269</c:v>
                </c:pt>
                <c:pt idx="1">
                  <c:v>267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Referral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61</c:v>
                </c:pt>
                <c:pt idx="1">
                  <c:v>139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Ins. HMO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43</c:v>
                </c:pt>
                <c:pt idx="1">
                  <c:v>60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34</c:v>
                </c:pt>
                <c:pt idx="1">
                  <c:v>47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Friend/Fam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43</c:v>
                </c:pt>
                <c:pt idx="1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Walk-in</c:v>
                </c:pt>
              </c:strCache>
            </c:strRef>
          </c:tx>
          <c:spPr>
            <a:solidFill>
              <a:srgbClr val="0DB0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442</c:v>
                </c:pt>
                <c:pt idx="1">
                  <c:v>651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Google</c:v>
                </c:pt>
              </c:strCache>
            </c:strRef>
          </c:tx>
          <c:spPr>
            <a:solidFill>
              <a:srgbClr val="1A6E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172</c:v>
                </c:pt>
                <c:pt idx="1">
                  <c:v>274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Referral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52</c:v>
                </c:pt>
                <c:pt idx="1">
                  <c:v>209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Ins. HMO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119</c:v>
                </c:pt>
                <c:pt idx="1">
                  <c:v>134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43</c:v>
                </c:pt>
                <c:pt idx="1">
                  <c:v>55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Friend/Fam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49</c:v>
                </c:pt>
                <c:pt idx="1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6EF5"/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3840480"/>
            <a:ext cx="2286000" cy="1303020"/>
          </a:xfrm>
          <a:prstGeom prst="rect">
            <a:avLst/>
          </a:prstGeom>
          <a:solidFill>
            <a:srgbClr val="0DB07D">
              <a:alpha val="14901"/>
            </a:srgbClr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2926080"/>
            <a:ext cx="1371600" cy="914400"/>
          </a:xfrm>
          <a:prstGeom prst="rect">
            <a:avLst/>
          </a:prstGeom>
          <a:solidFill>
            <a:srgbClr val="1A6EF5">
              <a:alpha val="14901"/>
            </a:srgbClr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CLINIC TRAFFIC ANALYTICS REPORT  •  2022 –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1170432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2tshie Dental Clinic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18745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FF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6FA8FF"/>
                </a:solidFill>
                <a:latin typeface="Georgia"/>
                <a:ea typeface="Georgia"/>
                <a:cs typeface="Georgia"/>
                <a:sym typeface="Georgia"/>
              </a:rPr>
              <a:t>Patient Traffic &amp; Channel Intelligence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2560320"/>
            <a:ext cx="2377440" cy="411480"/>
          </a:xfrm>
          <a:prstGeom prst="roundRect">
            <a:avLst>
              <a:gd fmla="val 11111" name="adj"/>
            </a:avLst>
          </a:prstGeom>
          <a:solidFill>
            <a:srgbClr val="1A6EF5">
              <a:alpha val="25098"/>
            </a:srgbClr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94360" y="257860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C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EC5FF"/>
                </a:solidFill>
                <a:latin typeface="Calibri"/>
                <a:ea typeface="Calibri"/>
                <a:cs typeface="Calibri"/>
                <a:sym typeface="Calibri"/>
              </a:rPr>
              <a:t>● Jabi Branch  —  opened May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063240" y="2560320"/>
            <a:ext cx="2377440" cy="411480"/>
          </a:xfrm>
          <a:prstGeom prst="roundRect">
            <a:avLst>
              <a:gd fmla="val 11111" name="adj"/>
            </a:avLst>
          </a:prstGeom>
          <a:solidFill>
            <a:srgbClr val="0DB07D">
              <a:alpha val="25098"/>
            </a:srgbClr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154680" y="257860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DF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EDFC0"/>
                </a:solidFill>
                <a:latin typeface="Calibri"/>
                <a:ea typeface="Calibri"/>
                <a:cs typeface="Calibri"/>
                <a:sym typeface="Calibri"/>
              </a:rPr>
              <a:t>● Apo Branch  —  opened Apr 2022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502920" y="3154680"/>
            <a:ext cx="7772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"/>
          <p:cNvSpPr/>
          <p:nvPr/>
        </p:nvSpPr>
        <p:spPr>
          <a:xfrm>
            <a:off x="502920" y="32918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9,382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02920" y="37947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Total patients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788920" y="32918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3,441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788920" y="37947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Jabi patients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074920" y="32918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4,691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074920" y="37947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Apo patients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360920" y="32918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2,894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360920" y="37947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2025 record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REPORT 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What this report covers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1480" y="1417320"/>
            <a:ext cx="166420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1480" y="1417320"/>
            <a:ext cx="1664208" cy="365760"/>
          </a:xfrm>
          <a:prstGeom prst="rect">
            <a:avLst/>
          </a:prstGeom>
          <a:solidFill>
            <a:srgbClr val="1A6EF5"/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11480" y="1435608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2920" y="1874520"/>
            <a:ext cx="1481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Annual Traffic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2920" y="2331720"/>
            <a:ext cx="148132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Year-on-year patient volumes for both branches, 2022–2025, including growth rates.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167128" y="1417320"/>
            <a:ext cx="166420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2167128" y="1417320"/>
            <a:ext cx="1664208" cy="365760"/>
          </a:xfrm>
          <a:prstGeom prst="rect">
            <a:avLst/>
          </a:prstGeom>
          <a:solidFill>
            <a:srgbClr val="0DB07D"/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167128" y="1435608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258568" y="1874520"/>
            <a:ext cx="1481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Seasonal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258568" y="2331720"/>
            <a:ext cx="148132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Monthly traffic trends revealing peak periods and low seasons across the year.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922776" y="1417320"/>
            <a:ext cx="166420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922776" y="1417320"/>
            <a:ext cx="1664208" cy="3657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922776" y="1435608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014216" y="1874520"/>
            <a:ext cx="1481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Channel Rankings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014216" y="2331720"/>
            <a:ext cx="148132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 traffic sources ranked — from Google and walk-ins to referrals and insurance.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678424" y="1417320"/>
            <a:ext cx="166420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678424" y="1417320"/>
            <a:ext cx="1664208" cy="365760"/>
          </a:xfrm>
          <a:prstGeom prst="rect">
            <a:avLst/>
          </a:prstGeom>
          <a:solidFill>
            <a:srgbClr val="0F1B3D"/>
          </a:solidFill>
          <a:ln cap="flat" cmpd="sng" w="12700">
            <a:solidFill>
              <a:srgbClr val="0F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678424" y="1435608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769864" y="1874520"/>
            <a:ext cx="1481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Channel Trends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769864" y="2331720"/>
            <a:ext cx="148132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How acquisition sources shifted year over year at each branch.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434072" y="1417320"/>
            <a:ext cx="166420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434072" y="1417320"/>
            <a:ext cx="1664208" cy="3657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434072" y="1435608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525512" y="1874520"/>
            <a:ext cx="1481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Key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525512" y="2331720"/>
            <a:ext cx="148132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Eight strategic observations drawn directly from the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3D"/>
          </a:solidFill>
          <a:ln cap="flat" cmpd="sng" w="12700">
            <a:solidFill>
              <a:srgbClr val="0F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SECTION 1  /  YEAR-ON-YEAR 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Annual patient traffic comparison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" name="Google Shape;75;p3"/>
          <p:cNvGraphicFramePr/>
          <p:nvPr/>
        </p:nvGraphicFramePr>
        <p:xfrm>
          <a:off x="320040" y="1051560"/>
          <a:ext cx="5852160" cy="3657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6" name="Google Shape;76;p3"/>
          <p:cNvSpPr/>
          <p:nvPr/>
        </p:nvSpPr>
        <p:spPr>
          <a:xfrm>
            <a:off x="6309360" y="1097280"/>
            <a:ext cx="2606040" cy="804672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309360" y="1097280"/>
            <a:ext cx="73152" cy="804672"/>
          </a:xfrm>
          <a:prstGeom prst="rect">
            <a:avLst/>
          </a:prstGeom>
          <a:solidFill>
            <a:srgbClr val="0DB07D"/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446520" y="11338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B07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DB07D"/>
                </a:solidFill>
                <a:latin typeface="Georgia"/>
                <a:ea typeface="Georgia"/>
                <a:cs typeface="Georgia"/>
                <a:sym typeface="Georgia"/>
              </a:rPr>
              <a:t>+143%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446520" y="149961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Apo growth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2022→2025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309360" y="2011680"/>
            <a:ext cx="2606040" cy="804672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309360" y="2011680"/>
            <a:ext cx="73152" cy="804672"/>
          </a:xfrm>
          <a:prstGeom prst="rect">
            <a:avLst/>
          </a:prstGeom>
          <a:solidFill>
            <a:srgbClr val="1A6EF5"/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446520" y="20482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F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A6EF5"/>
                </a:solidFill>
                <a:latin typeface="Georgia"/>
                <a:ea typeface="Georgia"/>
                <a:cs typeface="Georgia"/>
                <a:sym typeface="Georgia"/>
              </a:rPr>
              <a:t>+113%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446520" y="241401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Jabi growth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2023→2024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309360" y="2926080"/>
            <a:ext cx="2606040" cy="804672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309360" y="2926080"/>
            <a:ext cx="73152" cy="80467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446520" y="29626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E8A020"/>
                </a:solidFill>
                <a:latin typeface="Georgia"/>
                <a:ea typeface="Georgia"/>
                <a:cs typeface="Georgia"/>
                <a:sym typeface="Georgia"/>
              </a:rPr>
              <a:t>2025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446520" y="332841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Combined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year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309360" y="3840480"/>
            <a:ext cx="2606040" cy="804672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309360" y="3840480"/>
            <a:ext cx="73152" cy="804672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446520" y="38770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Georgia"/>
                <a:ea typeface="Georgia"/>
                <a:cs typeface="Georgia"/>
                <a:sym typeface="Georgia"/>
              </a:rPr>
              <a:t>−8%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46520" y="424281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Jabi 2025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 2024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Note: Jabi opened May 2023 — its 2023 figure covers only 8 months.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EF5"/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8D4FF"/>
                </a:solidFill>
                <a:latin typeface="Calibri"/>
                <a:ea typeface="Calibri"/>
                <a:cs typeface="Calibri"/>
                <a:sym typeface="Calibri"/>
              </a:rPr>
              <a:t>SECTION 2  /  SEASONAL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Monthly traffic — 2024 (both branches)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" name="Google Shape;101;p4"/>
          <p:cNvGraphicFramePr/>
          <p:nvPr/>
        </p:nvGraphicFramePr>
        <p:xfrm>
          <a:off x="320040" y="1051560"/>
          <a:ext cx="8503920" cy="3291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2" name="Google Shape;102;p4"/>
          <p:cNvSpPr/>
          <p:nvPr/>
        </p:nvSpPr>
        <p:spPr>
          <a:xfrm>
            <a:off x="320040" y="4480560"/>
            <a:ext cx="4114800" cy="502920"/>
          </a:xfrm>
          <a:prstGeom prst="roundRect">
            <a:avLst>
              <a:gd fmla="val 10909" name="adj"/>
            </a:avLst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11480" y="449884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Peak: Jabi hits 160 in June &amp; 151 in July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663440" y="4480560"/>
            <a:ext cx="4160520" cy="502920"/>
          </a:xfrm>
          <a:prstGeom prst="roundRect">
            <a:avLst>
              <a:gd fmla="val 10909" name="adj"/>
            </a:avLst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754880" y="449884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Apo strongest in Mar–Apr; both dip in Oct–Nov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B07D"/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7F3D0"/>
                </a:solidFill>
                <a:latin typeface="Calibri"/>
                <a:ea typeface="Calibri"/>
                <a:cs typeface="Calibri"/>
                <a:sym typeface="Calibri"/>
              </a:rPr>
              <a:t>SECTION 2  /  SEASONAL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Monthly traffic — 2025 (both branches)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5"/>
          <p:cNvGraphicFramePr/>
          <p:nvPr/>
        </p:nvGraphicFramePr>
        <p:xfrm>
          <a:off x="320040" y="1051560"/>
          <a:ext cx="8503920" cy="3291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5" name="Google Shape;115;p5"/>
          <p:cNvSpPr/>
          <p:nvPr/>
        </p:nvSpPr>
        <p:spPr>
          <a:xfrm>
            <a:off x="320040" y="4480560"/>
            <a:ext cx="4114800" cy="502920"/>
          </a:xfrm>
          <a:prstGeom prst="roundRect">
            <a:avLst>
              <a:gd fmla="val 10909" name="adj"/>
            </a:avLst>
          </a:prstGeom>
          <a:solidFill>
            <a:srgbClr val="FEF9C3"/>
          </a:solidFill>
          <a:ln cap="flat" cmpd="sng" w="12700">
            <a:solidFill>
              <a:srgbClr val="FDE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11480" y="449884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★ Jabi all-time high: 233 patients in August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663440" y="4480560"/>
            <a:ext cx="4160520" cy="502920"/>
          </a:xfrm>
          <a:prstGeom prst="roundRect">
            <a:avLst>
              <a:gd fmla="val 10909" name="adj"/>
            </a:avLst>
          </a:prstGeom>
          <a:solidFill>
            <a:srgbClr val="F0FDF4"/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754880" y="449884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Apo grows steadily; both branches peak in August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F3C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EF3C7"/>
                </a:solidFill>
                <a:latin typeface="Calibri"/>
                <a:ea typeface="Calibri"/>
                <a:cs typeface="Calibri"/>
                <a:sym typeface="Calibri"/>
              </a:rPr>
              <a:t>SECTION 3  /  TRAFFIC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Top traffic sources — combined ranking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6"/>
          <p:cNvGraphicFramePr/>
          <p:nvPr/>
        </p:nvGraphicFramePr>
        <p:xfrm>
          <a:off x="32004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{CD37A523-7AF9-4283-B71F-3656CC43C0B1}</a:tableStyleId>
              </a:tblPr>
              <a:tblGrid>
                <a:gridCol w="365750"/>
                <a:gridCol w="1920250"/>
                <a:gridCol w="868675"/>
                <a:gridCol w="868675"/>
                <a:gridCol w="1005850"/>
                <a:gridCol w="11887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Jabi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 Branch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Walk-in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1,093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1,661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B07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B07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EF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6E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Jabi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Referral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B07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B07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Insurance / HMO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B07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B07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Instagram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B07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B07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Friend / Family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02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A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Returning Client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EF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6E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Jabi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Signage / Billboard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B07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B07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Facebook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B07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B07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Ins. – Leadway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B07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B07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 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3D"/>
          </a:solidFill>
          <a:ln cap="flat" cmpd="sng" w="12700">
            <a:solidFill>
              <a:srgbClr val="0F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SECTION 3  /  TRAFFIC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Channel breakdown — Jabi vs Apo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7"/>
          <p:cNvGraphicFramePr/>
          <p:nvPr/>
        </p:nvGraphicFramePr>
        <p:xfrm>
          <a:off x="320040" y="1051560"/>
          <a:ext cx="8503920" cy="38862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7" name="Google Shape;137;p7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Excluding 'Unknown' entries from pre-2024 era, when source tracking was not yet in place.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6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DD6FE"/>
                </a:solidFill>
                <a:latin typeface="Calibri"/>
                <a:ea typeface="Calibri"/>
                <a:cs typeface="Calibri"/>
                <a:sym typeface="Calibri"/>
              </a:rPr>
              <a:t>SECTION 4  /  CHANNEL TRENDS OVER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traffic sources shifted — 2024 vs 2025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20040" y="10515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Jabi Branch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8"/>
          <p:cNvGraphicFramePr/>
          <p:nvPr/>
        </p:nvGraphicFramePr>
        <p:xfrm>
          <a:off x="320040" y="1371600"/>
          <a:ext cx="4206240" cy="34747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8" name="Google Shape;148;p8"/>
          <p:cNvSpPr/>
          <p:nvPr/>
        </p:nvSpPr>
        <p:spPr>
          <a:xfrm>
            <a:off x="4709160" y="10515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Apo Branch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8"/>
          <p:cNvGraphicFramePr/>
          <p:nvPr/>
        </p:nvGraphicFramePr>
        <p:xfrm>
          <a:off x="4709160" y="1371600"/>
          <a:ext cx="4114800" cy="347472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D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SECTION 5  /  STRATEGIC INSIGHTS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Eight things the data is telling </a:t>
            </a: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20040" y="1234440"/>
            <a:ext cx="2029968" cy="1737360"/>
          </a:xfrm>
          <a:prstGeom prst="rect">
            <a:avLst/>
          </a:prstGeom>
          <a:solidFill>
            <a:srgbClr val="16244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320040" y="1234440"/>
            <a:ext cx="2029968" cy="54864"/>
          </a:xfrm>
          <a:prstGeom prst="rect">
            <a:avLst/>
          </a:prstGeom>
          <a:solidFill>
            <a:srgbClr val="1A6EF5"/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429768" y="13441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F5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6EF5"/>
                </a:solidFill>
                <a:latin typeface="Georgia"/>
                <a:ea typeface="Georgia"/>
                <a:cs typeface="Georgia"/>
                <a:sym typeface="Georgia"/>
              </a:rPr>
              <a:t>+128%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29768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Jabi referrals grew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29768" y="213055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61 (2024) → 139 (2025). Fastest-growing channel at Jabi.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496312" y="1234440"/>
            <a:ext cx="2029968" cy="1737360"/>
          </a:xfrm>
          <a:prstGeom prst="rect">
            <a:avLst/>
          </a:prstGeom>
          <a:solidFill>
            <a:srgbClr val="16244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2496312" y="1234440"/>
            <a:ext cx="2029968" cy="54864"/>
          </a:xfrm>
          <a:prstGeom prst="rect">
            <a:avLst/>
          </a:prstGeom>
          <a:solidFill>
            <a:srgbClr val="0DB07D"/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2606040" y="13441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B07D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DB07D"/>
                </a:solidFill>
                <a:latin typeface="Georgia"/>
                <a:ea typeface="Georgia"/>
                <a:cs typeface="Georgia"/>
                <a:sym typeface="Georgia"/>
              </a:rPr>
              <a:t>+302%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606040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 referrals exploded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2606040" y="213055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52 (2024) → 209 (2025). Reputation compounding system-wide.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672584" y="1234440"/>
            <a:ext cx="2029968" cy="1737360"/>
          </a:xfrm>
          <a:prstGeom prst="rect">
            <a:avLst/>
          </a:prstGeom>
          <a:solidFill>
            <a:srgbClr val="16244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672584" y="1234440"/>
            <a:ext cx="2029968" cy="54864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4782312" y="13441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E8A020"/>
                </a:solidFill>
                <a:latin typeface="Georgia"/>
                <a:ea typeface="Georgia"/>
                <a:cs typeface="Georgia"/>
                <a:sym typeface="Georgia"/>
              </a:rPr>
              <a:t>982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782312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patients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782312" y="213055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536 at Jabi, 446 at Apo — top digital channel at both branches.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848856" y="1234440"/>
            <a:ext cx="2029968" cy="1737360"/>
          </a:xfrm>
          <a:prstGeom prst="rect">
            <a:avLst/>
          </a:prstGeom>
          <a:solidFill>
            <a:srgbClr val="16244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848856" y="1234440"/>
            <a:ext cx="2029968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958584" y="13441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1,661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958584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Walk-in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958584" y="213055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Apo alone: 1,093. Street visibility is the #1 acquisition tool.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20040" y="3154680"/>
            <a:ext cx="2029968" cy="1737360"/>
          </a:xfrm>
          <a:prstGeom prst="rect">
            <a:avLst/>
          </a:prstGeom>
          <a:solidFill>
            <a:srgbClr val="16244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20040" y="3154680"/>
            <a:ext cx="2029968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29768" y="326440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233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29768" y="3749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Jabi Aug 2025 record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29768" y="405079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All-time monthly high. Both branches peak in August and December.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2496312" y="3154680"/>
            <a:ext cx="2029968" cy="1737360"/>
          </a:xfrm>
          <a:prstGeom prst="rect">
            <a:avLst/>
          </a:prstGeom>
          <a:solidFill>
            <a:srgbClr val="16244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2496312" y="3154680"/>
            <a:ext cx="2029968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2606040" y="326440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356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606040" y="3749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Insurance/HMO patients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2606040" y="405079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Apo: 253 vs Jabi: 103. A key pipeline Jabi can develop further.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848856" y="3154680"/>
            <a:ext cx="2029968" cy="1737360"/>
          </a:xfrm>
          <a:prstGeom prst="rect">
            <a:avLst/>
          </a:prstGeom>
          <a:solidFill>
            <a:srgbClr val="16244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848856" y="3154680"/>
            <a:ext cx="2029968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58584" y="326440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Georgia"/>
                <a:ea typeface="Georgia"/>
                <a:cs typeface="Georgia"/>
                <a:sym typeface="Georgia"/>
              </a:rPr>
              <a:t>62/38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958584" y="3749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Jabi gender 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958584" y="405079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62% male, 38% female. Useful lens for service &amp; comms targeting.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STRATEGIC RECOMMENDATIONS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D"/>
                </a:solidFill>
                <a:latin typeface="Georgia"/>
                <a:ea typeface="Georgia"/>
                <a:cs typeface="Georgia"/>
                <a:sym typeface="Georgia"/>
              </a:rPr>
              <a:t>Four actions supported by the data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20040" y="1188720"/>
            <a:ext cx="85039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20040" y="1188720"/>
            <a:ext cx="73152" cy="822960"/>
          </a:xfrm>
          <a:prstGeom prst="rect">
            <a:avLst/>
          </a:prstGeom>
          <a:solidFill>
            <a:srgbClr val="0DB07D"/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457200" y="1298448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B07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DB07D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051560" y="1243584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Formalise the referral programme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051560" y="159105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Referral growth is your strongest organic signal (+128% Jabi, +302% Apo). A structured incentive — even a simple thank-you protocol — could push this to 200–400 patients/year per branch.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20040" y="2121408"/>
            <a:ext cx="85039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320040" y="2121408"/>
            <a:ext cx="73152" cy="822960"/>
          </a:xfrm>
          <a:prstGeom prst="rect">
            <a:avLst/>
          </a:prstGeom>
          <a:solidFill>
            <a:srgbClr val="1A6EF5"/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57200" y="2231136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F5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6EF5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051560" y="2176272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Expand the HMO pipeline at Jabi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051560" y="2523744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Apo has 2.5× more insurance patients than Jabi. Registering with additional HMO providers (Reliance, Hygeia) or building corporate partnerships could add 150+ patients/year.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20040" y="3054096"/>
            <a:ext cx="85039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20040" y="3054096"/>
            <a:ext cx="73152" cy="8229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457200" y="3163824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E8A020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051560" y="310896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Double down on Google — add SEO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1051560" y="345643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Google is the #1 digital channel. Investing in local SEO, Google Business Profile optimisation, and review generation can sustain and scale this without paid ads.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20040" y="3986784"/>
            <a:ext cx="85039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320040" y="3986784"/>
            <a:ext cx="73152" cy="8229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7200" y="4096512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51560" y="4041648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Plan for August capacity demand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051560" y="4389120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Both branches hit all-time highs in August. Pre-scheduling locums, extended hours, or targeted appointment-blocking in July ensures you capture — not turn away — this demand.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D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B07D"/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A6EF5"/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2tshie Dental Clinic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A8FF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6FA8FF"/>
                </a:solidFill>
                <a:latin typeface="Georgia"/>
                <a:ea typeface="Georgia"/>
                <a:cs typeface="Georgia"/>
                <a:sym typeface="Georgia"/>
              </a:rPr>
              <a:t>Jabi &amp; Apo Branches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1"/>
          <p:cNvCxnSpPr/>
          <p:nvPr/>
        </p:nvCxnSpPr>
        <p:spPr>
          <a:xfrm>
            <a:off x="2286000" y="260604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1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Report based on patient folder records · 9,382 patients · April 2022 – December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D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A3D4"/>
                </a:solidFill>
                <a:latin typeface="Calibri"/>
                <a:ea typeface="Calibri"/>
                <a:cs typeface="Calibri"/>
                <a:sym typeface="Calibri"/>
              </a:rPr>
              <a:t>Revenue data excluded per scope. Channel 'Unknown' entries excluded from source rankings.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2560320" y="3749040"/>
            <a:ext cx="1920240" cy="457200"/>
          </a:xfrm>
          <a:prstGeom prst="roundRect">
            <a:avLst>
              <a:gd fmla="val 10000" name="adj"/>
            </a:avLst>
          </a:prstGeom>
          <a:solidFill>
            <a:srgbClr val="1A6EF5">
              <a:alpha val="25098"/>
            </a:srgbClr>
          </a:solidFill>
          <a:ln cap="flat" cmpd="sng" w="12700">
            <a:solidFill>
              <a:srgbClr val="1A6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2651760" y="37673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5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EC5FF"/>
                </a:solidFill>
                <a:latin typeface="Calibri"/>
                <a:ea typeface="Calibri"/>
                <a:cs typeface="Calibri"/>
                <a:sym typeface="Calibri"/>
              </a:rPr>
              <a:t>● Jabi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663440" y="3749040"/>
            <a:ext cx="1920240" cy="457200"/>
          </a:xfrm>
          <a:prstGeom prst="roundRect">
            <a:avLst>
              <a:gd fmla="val 10000" name="adj"/>
            </a:avLst>
          </a:prstGeom>
          <a:solidFill>
            <a:srgbClr val="0DB07D">
              <a:alpha val="25098"/>
            </a:srgbClr>
          </a:solidFill>
          <a:ln cap="flat" cmpd="sng" w="12700">
            <a:solidFill>
              <a:srgbClr val="0DB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754880" y="37673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DF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EDFC0"/>
                </a:solidFill>
                <a:latin typeface="Calibri"/>
                <a:ea typeface="Calibri"/>
                <a:cs typeface="Calibri"/>
                <a:sym typeface="Calibri"/>
              </a:rPr>
              <a:t>● Apo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2026-05-02T10:34:07Z</dcterms:created>
  <dc:creator>PptxGenJS</dc:creator>
</cp:coreProperties>
</file>